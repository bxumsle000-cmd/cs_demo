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4" r:id="rId18"/>
    <p:sldId id="277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5313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開場：我做過 3 年客服，這個專案是把自己每天在用的工單流程重新做一次。簡報分兩部分：先看功能，再講技術。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先看功能，讓聽眾知道系統在做什麼；再進到技術，說明怎麼做。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第一部分不講程式，只講功能。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這些問題都是我當客服時遇過的，所以先從問題講，再講功能。〔請依自己實際經驗調整這張表的例子〕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登入、註冊、改密碼、登出四個功能。登入成功後狀態從離線變成線上。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首頁是客服最常停留的畫面。分頁籤看狀態，篩選找特定客戶，點單號進詳情。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這是我最想解決的痛點：以前要掛電話後再補登，現在通話中就填完。按「建立工單並結束通話」一次完成。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處理記錄是交接的關鍵。客服自己寫的留言和系統自動產生的記錄放在同一條時間軸上，接手的人一看就懂。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客服常說「我等等回電給您」，但一忙就忘。行事曆讓每一通該回的電話都有時間點。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橘色兩列是系統控制的狀態。這是把客服現場的規則寫進系統的例子。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用一天的流程收尾功能說明。誠實補充：電話部分是模擬的，重點在工單流程。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第二部分進入技術。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〔請補充自己選這些技術的理由〕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由左到右就是一個請求的路徑。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分層的好處是改資料庫不影響 Controller，改畫面需要的格式也只動 DTO。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可以用門禁卡比喻：櫃台發卡、閘門刷卡、規章決定哪些地方要卡、警衛擋人。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Spring 會挑型別最精確的處理器，所以自訂錯誤不會掉到兜底那一層。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開放提問。可以準備的問題：為什麼用 JWT 不用 Session、為什麼用 Flyway、電話功能為什麼是模擬。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29788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070001"/>
            <a:ext cx="10566400" cy="3975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29788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070001"/>
            <a:ext cx="10566400" cy="3975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xumsle000-cmd/CS_Demo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4C7D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812800" y="17272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200" dirty="0" err="1">
                <a:solidFill>
                  <a:srgbClr val="8FB0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個人作品集</a:t>
            </a:r>
            <a:endParaRPr lang="en-US" sz="15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2247900"/>
            <a:ext cx="10883392" cy="166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440"/>
              </a:lnSpc>
              <a:buNone/>
            </a:pPr>
            <a:r>
              <a:rPr lang="en-US" sz="5600" b="1" i="0" dirty="0" err="1">
                <a:solidFill>
                  <a:srgbClr val="F6F7F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客服工單管理系統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416649" y="3292231"/>
            <a:ext cx="9156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dirty="0" err="1">
                <a:solidFill>
                  <a:srgbClr val="C9D3E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把「建單、轉派、回電」做成一套前後端分離的系統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4868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簡報分成兩個部分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30300" y="2438301"/>
            <a:ext cx="466991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F5BE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PART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30300" y="2857401"/>
            <a:ext cx="4669917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功能說明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82370" y="3572163"/>
            <a:ext cx="4610227" cy="164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1930" indent="-201930" algn="l">
              <a:lnSpc>
                <a:spcPts val="2550"/>
              </a:lnSpc>
              <a:buSzPct val="100000"/>
              <a:buChar char="•"/>
            </a:pPr>
            <a:r>
              <a:rPr lang="en-US" sz="1500" dirty="0">
                <a:solidFill>
                  <a:srgbClr val="1E2A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系統要解決的問題</a:t>
            </a:r>
            <a:endParaRPr lang="en-US" sz="1500" dirty="0"/>
          </a:p>
          <a:p>
            <a:pPr marL="201930" indent="-201930" algn="l">
              <a:lnSpc>
                <a:spcPts val="2550"/>
              </a:lnSpc>
              <a:buSzPct val="100000"/>
              <a:buChar char="•"/>
            </a:pPr>
            <a:r>
              <a:rPr lang="en-US" sz="1500" dirty="0">
                <a:solidFill>
                  <a:srgbClr val="1E2A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登入、首頁工單列表</a:t>
            </a:r>
            <a:endParaRPr lang="en-US" sz="1500" dirty="0"/>
          </a:p>
          <a:p>
            <a:pPr marL="201930" indent="-201930" algn="l">
              <a:lnSpc>
                <a:spcPts val="2550"/>
              </a:lnSpc>
              <a:buSzPct val="100000"/>
              <a:buChar char="•"/>
            </a:pPr>
            <a:r>
              <a:rPr lang="en-US" sz="1500" dirty="0">
                <a:solidFill>
                  <a:srgbClr val="1E2A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通話工作台、工單詳情</a:t>
            </a:r>
            <a:endParaRPr lang="en-US" sz="1500" dirty="0"/>
          </a:p>
          <a:p>
            <a:pPr marL="201930" indent="-201930" algn="l">
              <a:lnSpc>
                <a:spcPts val="2550"/>
              </a:lnSpc>
              <a:buSzPct val="100000"/>
              <a:buChar char="•"/>
            </a:pPr>
            <a:r>
              <a:rPr lang="en-US" sz="1500" dirty="0">
                <a:solidFill>
                  <a:srgbClr val="1E2A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回電行事曆、客服工作狀態</a:t>
            </a:r>
            <a:endParaRPr lang="en-US" sz="1500" dirty="0"/>
          </a:p>
          <a:p>
            <a:pPr marL="201930" indent="-201930" algn="l">
              <a:lnSpc>
                <a:spcPts val="2550"/>
              </a:lnSpc>
              <a:buSzPct val="100000"/>
              <a:buChar char="•"/>
            </a:pPr>
            <a:r>
              <a:rPr lang="en-US" sz="1500" dirty="0">
                <a:solidFill>
                  <a:srgbClr val="1E2A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客服一天的使用流程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35700" y="2120801"/>
            <a:ext cx="5143500" cy="3721199"/>
          </a:xfrm>
          <a:prstGeom prst="roundRect">
            <a:avLst>
              <a:gd name="adj" fmla="val 3413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540500" y="2425601"/>
            <a:ext cx="466991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FB0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PART 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40500" y="2844701"/>
            <a:ext cx="4669917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6F7F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技術說明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540500" y="3572163"/>
            <a:ext cx="4610227" cy="164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1930" indent="-201930" algn="l">
              <a:lnSpc>
                <a:spcPts val="2550"/>
              </a:lnSpc>
              <a:buSzPct val="100000"/>
              <a:buChar char="•"/>
            </a:pPr>
            <a:r>
              <a:rPr lang="en-US" sz="1500" dirty="0">
                <a:solidFill>
                  <a:srgbClr val="F6F7F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後端分層、18 支 REST API</a:t>
            </a:r>
            <a:endParaRPr lang="en-US" sz="1500" dirty="0"/>
          </a:p>
          <a:p>
            <a:pPr marL="201930" indent="-201930" algn="l">
              <a:lnSpc>
                <a:spcPts val="2550"/>
              </a:lnSpc>
              <a:buSzPct val="100000"/>
              <a:buChar char="•"/>
            </a:pPr>
            <a:r>
              <a:rPr lang="en-US" sz="1500" dirty="0">
                <a:solidFill>
                  <a:srgbClr val="F6F7F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資料庫設計與 Flyway</a:t>
            </a:r>
            <a:endParaRPr lang="en-US" sz="1500" dirty="0"/>
          </a:p>
          <a:p>
            <a:pPr marL="201930" indent="-201930" algn="l">
              <a:lnSpc>
                <a:spcPts val="2550"/>
              </a:lnSpc>
              <a:buSzPct val="100000"/>
              <a:buChar char="•"/>
            </a:pPr>
            <a:r>
              <a:rPr lang="en-US" sz="1500" dirty="0">
                <a:solidFill>
                  <a:srgbClr val="F6F7F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JWT 登入驗證、例外處理</a:t>
            </a:r>
            <a:endParaRPr lang="en-US" sz="1500" dirty="0"/>
          </a:p>
          <a:p>
            <a:pPr marL="201930" indent="-201930" algn="l">
              <a:lnSpc>
                <a:spcPts val="2550"/>
              </a:lnSpc>
              <a:buSzPct val="100000"/>
              <a:buChar char="•"/>
            </a:pPr>
            <a:r>
              <a:rPr lang="en-US" sz="1500" dirty="0">
                <a:solidFill>
                  <a:srgbClr val="F6F7F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測試、Docker 與文件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CS_Demo 客服工單管理系統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F5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09180"/>
            <a:ext cx="10883392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000"/>
              </a:lnSpc>
              <a:buNone/>
            </a:pPr>
            <a:r>
              <a:rPr lang="en-US" sz="10000" b="1" dirty="0">
                <a:solidFill>
                  <a:srgbClr val="F6F7F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</a:t>
            </a:r>
            <a:endParaRPr lang="en-US" sz="100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3482380"/>
            <a:ext cx="10883392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160"/>
              </a:lnSpc>
              <a:buNone/>
            </a:pPr>
            <a:r>
              <a:rPr lang="en-US" sz="5600" b="1" i="0" dirty="0">
                <a:solidFill>
                  <a:srgbClr val="F6F7F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功能說明</a:t>
            </a:r>
            <a:endParaRPr lang="en-US" sz="5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 err="1">
                <a:solidFill>
                  <a:srgbClr val="2F5BE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功能說明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9788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每個功能都對應一個客服現場的問題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019201"/>
            <a:ext cx="10566400" cy="34925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812800" y="2019201"/>
            <a:ext cx="10566400" cy="3492500"/>
          </a:xfrm>
          <a:custGeom>
            <a:avLst/>
            <a:gdLst/>
            <a:ahLst/>
            <a:cxnLst/>
            <a:rect l="l" t="t" r="r" b="b"/>
            <a:pathLst>
              <a:path w="10566400" h="3492500">
                <a:moveTo>
                  <a:pt x="10464800" y="0"/>
                </a:moveTo>
                <a:lnTo>
                  <a:pt x="10464800" y="0"/>
                </a:lnTo>
                <a:arcTo wR="101600" hR="101600" stAng="16200000" swAng="5400000"/>
                <a:lnTo>
                  <a:pt x="10566400" y="3390900"/>
                </a:lnTo>
                <a:arcTo wR="101600" hR="101600" stAng="0" swAng="5400000"/>
                <a:lnTo>
                  <a:pt x="101600" y="3492500"/>
                </a:lnTo>
                <a:arcTo wR="101600" hR="101600" stAng="5400000" swAng="5400000"/>
                <a:lnTo>
                  <a:pt x="0" y="3390900"/>
                </a:lnTo>
                <a:arcTo wR="101600" hR="88900" stAng="10800000" swAng="-5400000"/>
                <a:lnTo>
                  <a:pt x="10464800" y="3479800"/>
                </a:lnTo>
                <a:arcTo wR="88900" hR="88900" stAng="5400000" swAng="-5400000"/>
                <a:lnTo>
                  <a:pt x="10553700" y="101600"/>
                </a:lnTo>
                <a:arcTo wR="88900" hR="101600" stAng="0" swAng="-5400000"/>
                <a:close/>
              </a:path>
            </a:pathLst>
          </a:custGeom>
          <a:solidFill>
            <a:srgbClr val="DDE3E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812800" y="2019201"/>
            <a:ext cx="10566400" cy="3492500"/>
          </a:xfrm>
          <a:custGeom>
            <a:avLst/>
            <a:gdLst/>
            <a:ahLst/>
            <a:cxnLst/>
            <a:rect l="l" t="t" r="r" b="b"/>
            <a:pathLst>
              <a:path w="10566400" h="3492500">
                <a:moveTo>
                  <a:pt x="101600" y="3492500"/>
                </a:moveTo>
                <a:lnTo>
                  <a:pt x="101600" y="349250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464800" y="0"/>
                </a:lnTo>
                <a:arcTo wR="101600" hR="101600" stAng="16200000" swAng="5400000"/>
                <a:lnTo>
                  <a:pt x="10566400" y="101600"/>
                </a:lnTo>
                <a:arcTo wR="101600" hR="88900" stAng="0" swAng="-5400000"/>
                <a:lnTo>
                  <a:pt x="101600" y="12700"/>
                </a:lnTo>
                <a:arcTo wR="88900" hR="88900" stAng="16200000" swAng="-5400000"/>
                <a:lnTo>
                  <a:pt x="12700" y="3390900"/>
                </a:lnTo>
                <a:arcTo wR="88900" hR="1016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031901"/>
          <a:ext cx="10541000" cy="3467100"/>
        </p:xfrm>
        <a:graphic>
          <a:graphicData uri="http://schemas.openxmlformats.org/drawingml/2006/table">
            <a:tbl>
              <a:tblPr/>
              <a:tblGrid>
                <a:gridCol w="4638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6F7F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客服現場的問題</a:t>
                      </a:r>
                      <a:endParaRPr lang="en-US" sz="15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27000" marR="127000" marT="127000" marB="1270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6F7F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對應功能</a:t>
                      </a:r>
                      <a:endParaRPr lang="en-US" sz="15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6F7F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系統的做法</a:t>
                      </a:r>
                      <a:endParaRPr lang="en-US" sz="15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通話中邊聽邊記，資訊容易漏掉</a:t>
                      </a:r>
                      <a:endParaRPr lang="en-US" sz="15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27000" marR="127000" marT="127000" marB="1270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F5BE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通話工作台</a:t>
                      </a:r>
                      <a:endParaRPr lang="en-US" sz="15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通話中直接填單，一鍵帶入進線號碼</a:t>
                      </a:r>
                      <a:endParaRPr lang="en-US" sz="15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同一位客戶重複來電，不知道之前問過什麼</a:t>
                      </a:r>
                      <a:endParaRPr lang="en-US" sz="15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27000" marR="127000" marT="127000" marB="1270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F5BE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進線歷史紀錄</a:t>
                      </a:r>
                      <a:endParaRPr lang="en-US" sz="15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依進線號碼列出這支電話的歷史工單</a:t>
                      </a:r>
                      <a:endParaRPr lang="en-US" sz="15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案件換手時交代不清楚</a:t>
                      </a:r>
                      <a:endParaRPr lang="en-US" sz="15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27000" marR="127000" marT="127000" marB="1270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F5BE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工單詳情</a:t>
                      </a:r>
                      <a:endParaRPr lang="en-US" sz="15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轉派加處理記錄，狀態變更由系統自動記下</a:t>
                      </a:r>
                      <a:endParaRPr lang="en-US" sz="15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答應客戶回電，卻忘了時間</a:t>
                      </a:r>
                      <a:endParaRPr lang="en-US" sz="15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27000" marR="127000" marT="127000" marB="1270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F5BE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回電行事曆</a:t>
                      </a:r>
                      <a:endParaRPr lang="en-US" sz="15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把工單排進某天某時，月檢視一眼看完</a:t>
                      </a:r>
                      <a:endParaRPr lang="en-US" sz="15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主管不知道誰在線上、誰在休息</a:t>
                      </a:r>
                      <a:endParaRPr lang="en-US" sz="15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27000" marR="127000" marT="127000" marB="1270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F5BE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工作狀態</a:t>
                      </a:r>
                      <a:endParaRPr lang="en-US" sz="15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線上、通話中、休息、用餐等 7 種狀態</a:t>
                      </a:r>
                      <a:endParaRPr lang="en-US" sz="15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使用者：客服人員（以客服代號 CSC00001 這類帳號登入）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2F5BE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功能說明 · 登入與帳號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9788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用客服代號登入，登出時自動變成離線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019201"/>
            <a:ext cx="3606800" cy="3416300"/>
          </a:xfrm>
          <a:prstGeom prst="roundRect">
            <a:avLst>
              <a:gd name="adj" fmla="val 3717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5" name="Image 0" descr="登入畫面：輸入客服代號與密碼後按登入"/>
          <p:cNvPicPr>
            <a:picLocks noChangeAspect="1"/>
          </p:cNvPicPr>
          <p:nvPr/>
        </p:nvPicPr>
        <p:blipFill>
          <a:blip r:embed="rId3"/>
          <a:srcRect t="-40" b="-40"/>
          <a:stretch/>
        </p:blipFill>
        <p:spPr>
          <a:xfrm>
            <a:off x="965200" y="2171601"/>
            <a:ext cx="3302000" cy="3111500"/>
          </a:xfrm>
          <a:prstGeom prst="roundRect">
            <a:avLst>
              <a:gd name="adj" fmla="val 2449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4781550" y="2025551"/>
            <a:ext cx="3213100" cy="1249660"/>
          </a:xfrm>
          <a:prstGeom prst="roundRect">
            <a:avLst>
              <a:gd name="adj" fmla="val 7622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4991100" y="2235101"/>
            <a:ext cx="2877820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登入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991100" y="2570361"/>
            <a:ext cx="287782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輸入客服代號與密碼，成功後取得登入憑證，之後每次操作都帶著它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159750" y="2025551"/>
            <a:ext cx="3213100" cy="1249660"/>
          </a:xfrm>
          <a:prstGeom prst="roundRect">
            <a:avLst>
              <a:gd name="adj" fmla="val 7622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/>
          <p:nvPr/>
        </p:nvSpPr>
        <p:spPr>
          <a:xfrm>
            <a:off x="8369300" y="2235101"/>
            <a:ext cx="2877820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註冊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369300" y="2570361"/>
            <a:ext cx="287782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建立新的客服帳號；新帳號還沒登入過，狀態預設為「離線」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81550" y="3440311"/>
            <a:ext cx="3213100" cy="1249660"/>
          </a:xfrm>
          <a:prstGeom prst="roundRect">
            <a:avLst>
              <a:gd name="adj" fmla="val 7622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4991100" y="3649861"/>
            <a:ext cx="2877820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修改密碼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991100" y="3985121"/>
            <a:ext cx="287782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登入後可自行修改密碼，密碼不以明文保存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59750" y="3440311"/>
            <a:ext cx="3213100" cy="1249660"/>
          </a:xfrm>
          <a:prstGeom prst="roundRect">
            <a:avLst>
              <a:gd name="adj" fmla="val 7622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3"/>
          <p:cNvSpPr/>
          <p:nvPr/>
        </p:nvSpPr>
        <p:spPr>
          <a:xfrm>
            <a:off x="8369300" y="3649861"/>
            <a:ext cx="2877820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登出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369300" y="3985121"/>
            <a:ext cx="287782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登出時狀態自動改為「離線」；登入失效時提示重新登入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畫面：登入頁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812800" y="237282"/>
            <a:ext cx="0" cy="546100"/>
          </a:xfrm>
          <a:prstGeom prst="line">
            <a:avLst/>
          </a:prstGeom>
          <a:noFill/>
          <a:ln w="38100">
            <a:solidFill>
              <a:srgbClr val="2F5B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958850" y="262682"/>
            <a:ext cx="364959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狀態分頁籤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58850" y="529382"/>
            <a:ext cx="364959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全部、已處理、處理中、等待客戶回覆，並顯示件數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12800" y="910382"/>
            <a:ext cx="0" cy="546100"/>
          </a:xfrm>
          <a:prstGeom prst="line">
            <a:avLst/>
          </a:prstGeom>
          <a:noFill/>
          <a:ln w="38100">
            <a:solidFill>
              <a:srgbClr val="2F5B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/>
          <p:nvPr/>
        </p:nvSpPr>
        <p:spPr>
          <a:xfrm>
            <a:off x="958850" y="935782"/>
            <a:ext cx="364959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 種篩選條件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58850" y="1202482"/>
            <a:ext cx="364959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單號、姓名、電話、狀態、客服、時間，可一鍵重設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49950" y="237282"/>
            <a:ext cx="0" cy="546100"/>
          </a:xfrm>
          <a:prstGeom prst="line">
            <a:avLst/>
          </a:prstGeom>
          <a:noFill/>
          <a:ln w="38100">
            <a:solidFill>
              <a:srgbClr val="2F5B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6096000" y="262682"/>
            <a:ext cx="364959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分頁查詢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096000" y="529382"/>
            <a:ext cx="364959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資料多也只載入一頁，畫面不會卡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949950" y="910382"/>
            <a:ext cx="0" cy="546100"/>
          </a:xfrm>
          <a:prstGeom prst="line">
            <a:avLst/>
          </a:prstGeom>
          <a:noFill/>
          <a:ln w="38100">
            <a:solidFill>
              <a:srgbClr val="2F5B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3"/>
          <p:cNvSpPr/>
          <p:nvPr/>
        </p:nvSpPr>
        <p:spPr>
          <a:xfrm>
            <a:off x="6096000" y="935782"/>
            <a:ext cx="364959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快速入口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096000" y="1202482"/>
            <a:ext cx="364959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點單號看詳情；上方有新增派件、接聽電話、行事曆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畫面：首頁 · 工單編號格式 TK-000001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06</a:t>
            </a:r>
            <a:endParaRPr lang="en-US" sz="1200" dirty="0"/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E785E55D-0916-1758-7619-18963A819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944" y="1817142"/>
            <a:ext cx="11164256" cy="48458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通話工作台：左側為本次通話工單表單，右側為進線號碼的歷史紀錄"/>
          <p:cNvPicPr>
            <a:picLocks noChangeAspect="1"/>
          </p:cNvPicPr>
          <p:nvPr/>
        </p:nvPicPr>
        <p:blipFill>
          <a:blip r:embed="rId3"/>
          <a:srcRect l="-118" r="-118"/>
          <a:stretch/>
        </p:blipFill>
        <p:spPr>
          <a:xfrm>
            <a:off x="662381" y="1599776"/>
            <a:ext cx="10577833" cy="5047436"/>
          </a:xfrm>
          <a:prstGeom prst="roundRect">
            <a:avLst>
              <a:gd name="adj" fmla="val 200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516332" y="276664"/>
            <a:ext cx="0" cy="774700"/>
          </a:xfrm>
          <a:prstGeom prst="line">
            <a:avLst/>
          </a:prstGeom>
          <a:noFill/>
          <a:ln w="38100">
            <a:solidFill>
              <a:srgbClr val="2F5B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662382" y="302064"/>
            <a:ext cx="364959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左：本次通話工單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62382" y="568764"/>
            <a:ext cx="364959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主旨（必填）、姓名、電話、分類、通話摘要；電話可一鍵帶入進線號碼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13879" y="389407"/>
            <a:ext cx="0" cy="546100"/>
          </a:xfrm>
          <a:prstGeom prst="line">
            <a:avLst/>
          </a:prstGeom>
          <a:noFill/>
          <a:ln w="38100">
            <a:solidFill>
              <a:srgbClr val="2F5B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/>
          <p:nvPr/>
        </p:nvSpPr>
        <p:spPr>
          <a:xfrm>
            <a:off x="4759929" y="414807"/>
            <a:ext cx="364959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通話結果定狀態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759929" y="681507"/>
            <a:ext cx="364959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選已解決、需再追蹤或待客戶回覆，也可直接轉派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17134" y="364007"/>
            <a:ext cx="0" cy="54610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8763184" y="389407"/>
            <a:ext cx="364959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右：號碼歷史紀錄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763184" y="656107"/>
            <a:ext cx="364959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同一支電話以前開過哪些單，一邊講一邊看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65819" y="222072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工單詳情：改狀態、轉派、留處理記錄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68071" y="1088267"/>
            <a:ext cx="0" cy="774700"/>
          </a:xfrm>
          <a:prstGeom prst="line">
            <a:avLst/>
          </a:prstGeom>
          <a:noFill/>
          <a:ln w="38100">
            <a:solidFill>
              <a:srgbClr val="2F5B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714121" y="1113667"/>
            <a:ext cx="338797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變更狀態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14121" y="1380367"/>
            <a:ext cx="338797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一鍵標記待客戶回覆或已解決；狀態沒變就不留記錄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07537" y="1060132"/>
            <a:ext cx="0" cy="546100"/>
          </a:xfrm>
          <a:prstGeom prst="line">
            <a:avLst/>
          </a:prstGeom>
          <a:noFill/>
          <a:ln w="38100">
            <a:solidFill>
              <a:srgbClr val="2F5B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/>
          <p:nvPr/>
        </p:nvSpPr>
        <p:spPr>
          <a:xfrm>
            <a:off x="4853587" y="1085532"/>
            <a:ext cx="338797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轉派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853587" y="1352232"/>
            <a:ext cx="338797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勾選後選擇其他客服，案件換手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314591" y="935867"/>
            <a:ext cx="0" cy="774700"/>
          </a:xfrm>
          <a:prstGeom prst="line">
            <a:avLst/>
          </a:prstGeom>
          <a:noFill/>
          <a:ln w="38100">
            <a:solidFill>
              <a:srgbClr val="2F5B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8460641" y="961267"/>
            <a:ext cx="338797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處理記錄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460641" y="1227967"/>
            <a:ext cx="338797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客服留言加上系統自動記錄：建立、改狀態、轉派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08</a:t>
            </a:r>
            <a:endParaRPr lang="en-US" sz="1200" dirty="0"/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466102E7-8CFF-9F8E-2D0C-02391A4F0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10" y="2553419"/>
            <a:ext cx="11623929" cy="39235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83412" y="420719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回電行事曆：答應客戶的回電不再忘記</a:t>
            </a:r>
            <a:endParaRPr lang="en-US" sz="3200" dirty="0"/>
          </a:p>
        </p:txBody>
      </p:sp>
      <p:pic>
        <p:nvPicPr>
          <p:cNvPr id="5" name="Image 0" descr="回電行事曆：左側為月曆，每天標示件數；右側為當天回電安排與加入案件區"/>
          <p:cNvPicPr>
            <a:picLocks noChangeAspect="1"/>
          </p:cNvPicPr>
          <p:nvPr/>
        </p:nvPicPr>
        <p:blipFill>
          <a:blip r:embed="rId3"/>
          <a:srcRect t="-13" b="-13"/>
          <a:stretch/>
        </p:blipFill>
        <p:spPr>
          <a:xfrm>
            <a:off x="70477" y="1580593"/>
            <a:ext cx="8879427" cy="4555146"/>
          </a:xfrm>
          <a:prstGeom prst="roundRect">
            <a:avLst>
              <a:gd name="adj" fmla="val 1949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9095954" y="1962092"/>
            <a:ext cx="0" cy="546100"/>
          </a:xfrm>
          <a:prstGeom prst="line">
            <a:avLst/>
          </a:prstGeom>
          <a:noFill/>
          <a:ln w="38100">
            <a:solidFill>
              <a:srgbClr val="2F5B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9242004" y="1987492"/>
            <a:ext cx="364959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月檢視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242004" y="2254192"/>
            <a:ext cx="16876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每天格子顯示回電件數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099669" y="3015463"/>
            <a:ext cx="0" cy="546100"/>
          </a:xfrm>
          <a:prstGeom prst="line">
            <a:avLst/>
          </a:prstGeom>
          <a:noFill/>
          <a:ln w="38100">
            <a:solidFill>
              <a:srgbClr val="2F5B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/>
          <p:nvPr/>
        </p:nvSpPr>
        <p:spPr>
          <a:xfrm>
            <a:off x="9245719" y="3040863"/>
            <a:ext cx="364959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當天詳情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245720" y="3307563"/>
            <a:ext cx="269695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時間、主旨、單號、客戶、電話、狀態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099669" y="4056134"/>
            <a:ext cx="0" cy="546100"/>
          </a:xfrm>
          <a:prstGeom prst="line">
            <a:avLst/>
          </a:prstGeom>
          <a:noFill/>
          <a:ln w="38100">
            <a:solidFill>
              <a:srgbClr val="2F5B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9245719" y="4081534"/>
            <a:ext cx="364959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加入案件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245719" y="4348234"/>
            <a:ext cx="364959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只列自己名下還沒結案的工單</a:t>
            </a: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；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099669" y="5211693"/>
            <a:ext cx="0" cy="54610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3"/>
          <p:cNvSpPr/>
          <p:nvPr/>
        </p:nvSpPr>
        <p:spPr>
          <a:xfrm>
            <a:off x="9245719" y="5237093"/>
            <a:ext cx="364959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刪除安排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245719" y="5503793"/>
            <a:ext cx="364959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只能刪自己的安排，別人的看不到也刪不掉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2F5BE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功能說明 · 客服工作狀態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9788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7 種工作狀態，其中 2 種只能由系統設定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019201"/>
            <a:ext cx="6858000" cy="3743325"/>
          </a:xfrm>
          <a:prstGeom prst="roundRect">
            <a:avLst>
              <a:gd name="adj" fmla="val 271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812800" y="2019201"/>
            <a:ext cx="6858000" cy="3743325"/>
          </a:xfrm>
          <a:custGeom>
            <a:avLst/>
            <a:gdLst/>
            <a:ahLst/>
            <a:cxnLst/>
            <a:rect l="l" t="t" r="r" b="b"/>
            <a:pathLst>
              <a:path w="6858000" h="3743325">
                <a:moveTo>
                  <a:pt x="6756400" y="0"/>
                </a:moveTo>
                <a:lnTo>
                  <a:pt x="6756400" y="0"/>
                </a:lnTo>
                <a:arcTo wR="101600" hR="101600" stAng="16200000" swAng="5400000"/>
                <a:lnTo>
                  <a:pt x="6858000" y="3641725"/>
                </a:lnTo>
                <a:arcTo wR="101600" hR="101600" stAng="0" swAng="5400000"/>
                <a:lnTo>
                  <a:pt x="101600" y="3743325"/>
                </a:lnTo>
                <a:arcTo wR="101600" hR="101600" stAng="5400000" swAng="5400000"/>
                <a:lnTo>
                  <a:pt x="0" y="3641725"/>
                </a:lnTo>
                <a:arcTo wR="101600" hR="88900" stAng="10800000" swAng="-5400000"/>
                <a:lnTo>
                  <a:pt x="6756400" y="3730625"/>
                </a:lnTo>
                <a:arcTo wR="88900" hR="88900" stAng="5400000" swAng="-5400000"/>
                <a:lnTo>
                  <a:pt x="6845300" y="101600"/>
                </a:lnTo>
                <a:arcTo wR="88900" hR="101600" stAng="0" swAng="-5400000"/>
                <a:close/>
              </a:path>
            </a:pathLst>
          </a:custGeom>
          <a:solidFill>
            <a:srgbClr val="DDE3E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812800" y="2019201"/>
            <a:ext cx="6858000" cy="3743325"/>
          </a:xfrm>
          <a:custGeom>
            <a:avLst/>
            <a:gdLst/>
            <a:ahLst/>
            <a:cxnLst/>
            <a:rect l="l" t="t" r="r" b="b"/>
            <a:pathLst>
              <a:path w="6858000" h="3743325">
                <a:moveTo>
                  <a:pt x="101600" y="3743325"/>
                </a:moveTo>
                <a:lnTo>
                  <a:pt x="101600" y="3743325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6756400" y="0"/>
                </a:lnTo>
                <a:arcTo wR="101600" hR="101600" stAng="16200000" swAng="5400000"/>
                <a:lnTo>
                  <a:pt x="6858000" y="101600"/>
                </a:lnTo>
                <a:arcTo wR="101600" hR="88900" stAng="0" swAng="-5400000"/>
                <a:lnTo>
                  <a:pt x="101600" y="12700"/>
                </a:lnTo>
                <a:arcTo wR="88900" hR="88900" stAng="16200000" swAng="-5400000"/>
                <a:lnTo>
                  <a:pt x="12700" y="3641725"/>
                </a:lnTo>
                <a:arcTo wR="88900" hR="1016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031901"/>
          <a:ext cx="6832600" cy="3717928"/>
        </p:xfrm>
        <a:graphic>
          <a:graphicData uri="http://schemas.openxmlformats.org/drawingml/2006/table">
            <a:tbl>
              <a:tblPr/>
              <a:tblGrid>
                <a:gridCol w="1913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9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96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474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7F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狀態</a:t>
                      </a:r>
                      <a:endParaRPr lang="en-US" sz="14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7F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意思</a:t>
                      </a:r>
                      <a:endParaRPr lang="en-US" sz="14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7F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誰來設定</a:t>
                      </a:r>
                      <a:endParaRPr lang="en-US" sz="14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74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線上</a:t>
                      </a:r>
                      <a:endParaRPr lang="en-US" sz="14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可以接電話</a:t>
                      </a:r>
                      <a:endParaRPr lang="en-US" sz="14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登入時自動設定，或手動選擇</a:t>
                      </a:r>
                      <a:endParaRPr lang="en-US" sz="14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74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通話中</a:t>
                      </a:r>
                      <a:endParaRPr lang="en-US" sz="14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9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正在通話</a:t>
                      </a:r>
                      <a:endParaRPr lang="en-US" sz="14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9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A3460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系統：通話事件（目前為模擬）</a:t>
                      </a:r>
                      <a:endParaRPr lang="en-US" sz="14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9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74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休息</a:t>
                      </a:r>
                      <a:endParaRPr lang="en-US" sz="14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短暫休息</a:t>
                      </a:r>
                      <a:endParaRPr lang="en-US" sz="14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客服手動選擇</a:t>
                      </a:r>
                      <a:endParaRPr lang="en-US" sz="14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74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如廁</a:t>
                      </a:r>
                      <a:endParaRPr lang="en-US" sz="14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暫時離開座位</a:t>
                      </a:r>
                      <a:endParaRPr lang="en-US" sz="14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客服手動選擇</a:t>
                      </a:r>
                      <a:endParaRPr lang="en-US" sz="14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74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用餐</a:t>
                      </a:r>
                      <a:endParaRPr lang="en-US" sz="14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午餐時間</a:t>
                      </a:r>
                      <a:endParaRPr lang="en-US" sz="14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客服手動選擇</a:t>
                      </a:r>
                      <a:endParaRPr lang="en-US" sz="14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474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會議</a:t>
                      </a:r>
                      <a:endParaRPr lang="en-US" sz="14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開會中</a:t>
                      </a:r>
                      <a:endParaRPr lang="en-US" sz="14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客服手動選擇</a:t>
                      </a:r>
                      <a:endParaRPr lang="en-US" sz="14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474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離線</a:t>
                      </a:r>
                      <a:endParaRPr lang="en-US" sz="14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9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不在系統上</a:t>
                      </a:r>
                      <a:endParaRPr lang="en-US" sz="14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9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A3460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系統：登出或新帳號</a:t>
                      </a:r>
                      <a:endParaRPr lang="en-US" sz="14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9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975600" y="2019201"/>
            <a:ext cx="3403600" cy="2341662"/>
          </a:xfrm>
          <a:prstGeom prst="roundRect">
            <a:avLst>
              <a:gd name="adj" fmla="val 5423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8229600" y="2273201"/>
            <a:ext cx="2982468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7F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為什麼要限制？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0" y="2659261"/>
            <a:ext cx="2982468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C9D3E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「通話中」和「離線」代表真實發生的事件。如果客服能自己切換，主管看到的狀態就不可信。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0" y="3578622"/>
            <a:ext cx="2982468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C9D3E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所以這兩種狀態只開放系統設定，手動送出會被拒絕並顯示錯誤訊息。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畫面：右上角客服名稱旁的狀態選單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2F5BE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功能說明 · 使用流程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9788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客服的一天：6 個步驟串起所有功能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42950" y="3382276"/>
            <a:ext cx="1435100" cy="1577280"/>
          </a:xfrm>
          <a:prstGeom prst="roundRect">
            <a:avLst>
              <a:gd name="adj" fmla="val 663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901700" y="3566426"/>
            <a:ext cx="1168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F5B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01700" y="3998226"/>
            <a:ext cx="116840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登入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01700" y="4318206"/>
            <a:ext cx="1168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狀態由離線變為線上</a:t>
            </a:r>
            <a:endParaRPr lang="en-US" sz="1200" dirty="0"/>
          </a:p>
        </p:txBody>
      </p:sp>
      <p:pic>
        <p:nvPicPr>
          <p:cNvPr id="8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60600" y="4094666"/>
            <a:ext cx="228600" cy="152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571750" y="3382276"/>
            <a:ext cx="1435100" cy="1577280"/>
          </a:xfrm>
          <a:prstGeom prst="roundRect">
            <a:avLst>
              <a:gd name="adj" fmla="val 663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/>
          <p:nvPr/>
        </p:nvSpPr>
        <p:spPr>
          <a:xfrm>
            <a:off x="2730500" y="3566426"/>
            <a:ext cx="1168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F5B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2730500" y="3998226"/>
            <a:ext cx="116840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接聽電話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730500" y="4318206"/>
            <a:ext cx="1168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進入工作台，狀態顯示通話中</a:t>
            </a:r>
            <a:endParaRPr lang="en-US" sz="1200" dirty="0"/>
          </a:p>
        </p:txBody>
      </p:sp>
      <p:pic>
        <p:nvPicPr>
          <p:cNvPr id="13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89400" y="4094666"/>
            <a:ext cx="228600" cy="1524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400550" y="3267976"/>
            <a:ext cx="1435100" cy="1805880"/>
          </a:xfrm>
          <a:prstGeom prst="roundRect">
            <a:avLst>
              <a:gd name="adj" fmla="val 663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1"/>
          <p:cNvSpPr/>
          <p:nvPr/>
        </p:nvSpPr>
        <p:spPr>
          <a:xfrm>
            <a:off x="4559300" y="3452126"/>
            <a:ext cx="1168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F5B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4559300" y="3883926"/>
            <a:ext cx="116840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通話中建單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559300" y="4203906"/>
            <a:ext cx="11684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參考號碼歷史，填單並選通話結果</a:t>
            </a:r>
            <a:endParaRPr lang="en-US" sz="1200" dirty="0"/>
          </a:p>
        </p:txBody>
      </p:sp>
      <p:pic>
        <p:nvPicPr>
          <p:cNvPr id="18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18200" y="4094666"/>
            <a:ext cx="228600" cy="1524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229350" y="3382276"/>
            <a:ext cx="1435100" cy="1577280"/>
          </a:xfrm>
          <a:prstGeom prst="roundRect">
            <a:avLst>
              <a:gd name="adj" fmla="val 663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5"/>
          <p:cNvSpPr/>
          <p:nvPr/>
        </p:nvSpPr>
        <p:spPr>
          <a:xfrm>
            <a:off x="6388100" y="3566426"/>
            <a:ext cx="1168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C2410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6388100" y="3998226"/>
            <a:ext cx="116840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排回電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388100" y="4318206"/>
            <a:ext cx="1168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未解決的單排進行事曆</a:t>
            </a:r>
            <a:endParaRPr lang="en-US" sz="1200" dirty="0"/>
          </a:p>
        </p:txBody>
      </p:sp>
      <p:pic>
        <p:nvPicPr>
          <p:cNvPr id="23" name="Image 3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47000" y="4094666"/>
            <a:ext cx="228600" cy="1524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8058150" y="3382276"/>
            <a:ext cx="1435100" cy="1577280"/>
          </a:xfrm>
          <a:prstGeom prst="roundRect">
            <a:avLst>
              <a:gd name="adj" fmla="val 663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19"/>
          <p:cNvSpPr/>
          <p:nvPr/>
        </p:nvSpPr>
        <p:spPr>
          <a:xfrm>
            <a:off x="8216900" y="3566426"/>
            <a:ext cx="1168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C2410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8216900" y="3998226"/>
            <a:ext cx="116840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追蹤處理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8216900" y="4318206"/>
            <a:ext cx="1168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回電後寫記錄，必要時轉派</a:t>
            </a:r>
            <a:endParaRPr lang="en-US" sz="1200" dirty="0"/>
          </a:p>
        </p:txBody>
      </p:sp>
      <p:pic>
        <p:nvPicPr>
          <p:cNvPr id="28" name="Image 4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75800" y="4094666"/>
            <a:ext cx="228600" cy="152400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9880600" y="3363226"/>
            <a:ext cx="1422400" cy="1615380"/>
          </a:xfrm>
          <a:prstGeom prst="roundRect">
            <a:avLst>
              <a:gd name="adj" fmla="val 7143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3"/>
          <p:cNvSpPr/>
          <p:nvPr/>
        </p:nvSpPr>
        <p:spPr>
          <a:xfrm>
            <a:off x="9880600" y="3363226"/>
            <a:ext cx="1422400" cy="1615380"/>
          </a:xfrm>
          <a:custGeom>
            <a:avLst/>
            <a:gdLst/>
            <a:ahLst/>
            <a:cxnLst/>
            <a:rect l="l" t="t" r="r" b="b"/>
            <a:pathLst>
              <a:path w="1422400" h="161538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1320800" y="0"/>
                </a:lnTo>
                <a:arcTo wR="101600" hR="101600" stAng="16200000" swAng="5400000"/>
                <a:lnTo>
                  <a:pt x="1422400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2E9E6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4"/>
          <p:cNvSpPr/>
          <p:nvPr/>
        </p:nvSpPr>
        <p:spPr>
          <a:xfrm>
            <a:off x="10033000" y="3591826"/>
            <a:ext cx="1168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7FD6A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6</a:t>
            </a:r>
            <a:endParaRPr lang="en-US" sz="2000" dirty="0"/>
          </a:p>
        </p:txBody>
      </p:sp>
      <p:sp>
        <p:nvSpPr>
          <p:cNvPr id="32" name="Text 25"/>
          <p:cNvSpPr/>
          <p:nvPr/>
        </p:nvSpPr>
        <p:spPr>
          <a:xfrm>
            <a:off x="10033000" y="4023626"/>
            <a:ext cx="116840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7F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結案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10033000" y="4343606"/>
            <a:ext cx="1168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9D3E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標記已解決，首頁件數同步更新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4C7D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812800" y="2009180"/>
            <a:ext cx="10883392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000"/>
              </a:lnSpc>
              <a:buNone/>
            </a:pPr>
            <a:r>
              <a:rPr lang="en-US" sz="10000" b="1" dirty="0">
                <a:solidFill>
                  <a:srgbClr val="8F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</a:t>
            </a:r>
            <a:endParaRPr lang="en-US" sz="100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3482380"/>
            <a:ext cx="10883392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160"/>
              </a:lnSpc>
              <a:buNone/>
            </a:pPr>
            <a:r>
              <a:rPr lang="en-US" sz="5600" b="1" i="0" dirty="0">
                <a:solidFill>
                  <a:srgbClr val="F6F7F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技術說明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12800" y="4467820"/>
            <a:ext cx="9156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dirty="0">
                <a:solidFill>
                  <a:srgbClr val="C9D3E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架構、API、資料庫、安全與品質：系統怎麼做、為什麼這樣做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7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1"/>
              </a:lnSpc>
              <a:buNone/>
            </a:pPr>
            <a:r>
              <a:rPr lang="en-US" sz="1158" b="1" kern="0" spc="100" dirty="0">
                <a:solidFill>
                  <a:srgbClr val="2F5BE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技術說明 · 技術選型</a:t>
            </a:r>
            <a:endParaRPr lang="en-US" sz="1158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69206"/>
            <a:ext cx="10883392" cy="434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66"/>
              </a:lnSpc>
              <a:buNone/>
            </a:pPr>
            <a:r>
              <a:rPr lang="en-US" sz="2840" b="1" i="0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前後端分離，後端以 Spring Boot 為核心</a:t>
            </a:r>
            <a:endParaRPr lang="en-US" sz="2840" dirty="0"/>
          </a:p>
        </p:txBody>
      </p:sp>
      <p:sp>
        <p:nvSpPr>
          <p:cNvPr id="4" name="Shape 2"/>
          <p:cNvSpPr/>
          <p:nvPr/>
        </p:nvSpPr>
        <p:spPr>
          <a:xfrm>
            <a:off x="812800" y="1932781"/>
            <a:ext cx="10566400" cy="3909219"/>
          </a:xfrm>
          <a:prstGeom prst="roundRect">
            <a:avLst>
              <a:gd name="adj" fmla="val 25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812800" y="1932781"/>
            <a:ext cx="10566400" cy="3909219"/>
          </a:xfrm>
          <a:custGeom>
            <a:avLst/>
            <a:gdLst/>
            <a:ahLst/>
            <a:cxnLst/>
            <a:rect l="l" t="t" r="r" b="b"/>
            <a:pathLst>
              <a:path w="10566400" h="3909219">
                <a:moveTo>
                  <a:pt x="10464800" y="0"/>
                </a:moveTo>
                <a:lnTo>
                  <a:pt x="10464800" y="0"/>
                </a:lnTo>
                <a:arcTo wR="101600" hR="101600" stAng="16200000" swAng="5400000"/>
                <a:lnTo>
                  <a:pt x="10566400" y="3807619"/>
                </a:lnTo>
                <a:arcTo wR="101600" hR="101600" stAng="0" swAng="5400000"/>
                <a:lnTo>
                  <a:pt x="101600" y="3909219"/>
                </a:lnTo>
                <a:arcTo wR="101600" hR="101600" stAng="5400000" swAng="5400000"/>
                <a:lnTo>
                  <a:pt x="0" y="3807619"/>
                </a:lnTo>
                <a:arcTo wR="101600" hR="88900" stAng="10800000" swAng="-5400000"/>
                <a:lnTo>
                  <a:pt x="10464800" y="3896519"/>
                </a:lnTo>
                <a:arcTo wR="88900" hR="88900" stAng="5400000" swAng="-5400000"/>
                <a:lnTo>
                  <a:pt x="10553700" y="101600"/>
                </a:lnTo>
                <a:arcTo wR="88900" hR="101600" stAng="0" swAng="-5400000"/>
                <a:close/>
              </a:path>
            </a:pathLst>
          </a:custGeom>
          <a:solidFill>
            <a:srgbClr val="DDE3E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812800" y="1932781"/>
            <a:ext cx="10566400" cy="3909219"/>
          </a:xfrm>
          <a:custGeom>
            <a:avLst/>
            <a:gdLst/>
            <a:ahLst/>
            <a:cxnLst/>
            <a:rect l="l" t="t" r="r" b="b"/>
            <a:pathLst>
              <a:path w="10566400" h="3909219">
                <a:moveTo>
                  <a:pt x="101600" y="3909219"/>
                </a:moveTo>
                <a:lnTo>
                  <a:pt x="101600" y="3909219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464800" y="0"/>
                </a:lnTo>
                <a:arcTo wR="101600" hR="101600" stAng="16200000" swAng="5400000"/>
                <a:lnTo>
                  <a:pt x="10566400" y="101600"/>
                </a:lnTo>
                <a:arcTo wR="101600" hR="88900" stAng="0" swAng="-5400000"/>
                <a:lnTo>
                  <a:pt x="101600" y="12700"/>
                </a:lnTo>
                <a:arcTo wR="88900" hR="88900" stAng="16200000" swAng="-5400000"/>
                <a:lnTo>
                  <a:pt x="12700" y="3807619"/>
                </a:lnTo>
                <a:arcTo wR="88900" hR="1016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814803"/>
              </p:ext>
            </p:extLst>
          </p:nvPr>
        </p:nvGraphicFramePr>
        <p:xfrm>
          <a:off x="825500" y="1945481"/>
          <a:ext cx="10541000" cy="3455984"/>
        </p:xfrm>
        <a:graphic>
          <a:graphicData uri="http://schemas.openxmlformats.org/drawingml/2006/table">
            <a:tbl>
              <a:tblPr/>
              <a:tblGrid>
                <a:gridCol w="1475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5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9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998">
                <a:tc>
                  <a:txBody>
                    <a:bodyPr/>
                    <a:lstStyle/>
                    <a:p>
                      <a:pPr marL="0" indent="0">
                        <a:lnSpc>
                          <a:spcPts val="1703"/>
                        </a:lnSpc>
                        <a:buNone/>
                      </a:pPr>
                      <a:r>
                        <a:rPr lang="en-US" sz="1216" b="1" dirty="0">
                          <a:solidFill>
                            <a:srgbClr val="F6F7F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層級</a:t>
                      </a:r>
                      <a:endParaRPr lang="en-US" sz="1216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03"/>
                        </a:lnSpc>
                        <a:buNone/>
                      </a:pPr>
                      <a:r>
                        <a:rPr lang="en-US" sz="1216" b="1" dirty="0">
                          <a:solidFill>
                            <a:srgbClr val="F6F7F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技術</a:t>
                      </a:r>
                      <a:endParaRPr lang="en-US" sz="1216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03"/>
                        </a:lnSpc>
                        <a:buNone/>
                      </a:pPr>
                      <a:r>
                        <a:rPr lang="en-US" sz="1216" b="1" dirty="0">
                          <a:solidFill>
                            <a:srgbClr val="F6F7F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用途</a:t>
                      </a:r>
                      <a:endParaRPr lang="en-US" sz="1216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998">
                <a:tc>
                  <a:txBody>
                    <a:bodyPr/>
                    <a:lstStyle/>
                    <a:p>
                      <a:pPr marL="0" indent="0">
                        <a:lnSpc>
                          <a:spcPts val="1703"/>
                        </a:lnSpc>
                        <a:buNone/>
                      </a:pPr>
                      <a:r>
                        <a:rPr lang="en-US" sz="1216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語言</a:t>
                      </a:r>
                      <a:endParaRPr lang="en-US" sz="1216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03"/>
                        </a:lnSpc>
                        <a:buNone/>
                      </a:pPr>
                      <a:r>
                        <a:rPr lang="en-US" sz="1216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Java 21</a:t>
                      </a:r>
                      <a:endParaRPr lang="en-US" sz="1216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03"/>
                        </a:lnSpc>
                        <a:buNone/>
                      </a:pPr>
                      <a:r>
                        <a:rPr lang="en-US" sz="1216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後端主要語言</a:t>
                      </a:r>
                      <a:endParaRPr lang="en-US" sz="1216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998">
                <a:tc>
                  <a:txBody>
                    <a:bodyPr/>
                    <a:lstStyle/>
                    <a:p>
                      <a:pPr marL="0" indent="0">
                        <a:lnSpc>
                          <a:spcPts val="1703"/>
                        </a:lnSpc>
                        <a:buNone/>
                      </a:pPr>
                      <a:r>
                        <a:rPr lang="en-US" sz="1216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後端框架</a:t>
                      </a:r>
                      <a:endParaRPr lang="en-US" sz="1216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03"/>
                        </a:lnSpc>
                        <a:buNone/>
                      </a:pPr>
                      <a:r>
                        <a:rPr lang="en-US" sz="1216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Spring Boot 4、Spring Web</a:t>
                      </a:r>
                      <a:endParaRPr lang="en-US" sz="1216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03"/>
                        </a:lnSpc>
                        <a:buNone/>
                      </a:pPr>
                      <a:r>
                        <a:rPr lang="en-US" sz="1216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提供 REST API</a:t>
                      </a:r>
                      <a:endParaRPr lang="en-US" sz="1216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998">
                <a:tc>
                  <a:txBody>
                    <a:bodyPr/>
                    <a:lstStyle/>
                    <a:p>
                      <a:pPr marL="0" indent="0">
                        <a:lnSpc>
                          <a:spcPts val="1703"/>
                        </a:lnSpc>
                        <a:buNone/>
                      </a:pPr>
                      <a:r>
                        <a:rPr lang="en-US" sz="1216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資料存取</a:t>
                      </a:r>
                      <a:endParaRPr lang="en-US" sz="1216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03"/>
                        </a:lnSpc>
                        <a:buNone/>
                      </a:pPr>
                      <a:r>
                        <a:rPr lang="en-US" sz="1216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Spring Data JPA</a:t>
                      </a:r>
                      <a:endParaRPr lang="en-US" sz="1216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03"/>
                        </a:lnSpc>
                        <a:buNone/>
                      </a:pPr>
                      <a:r>
                        <a:rPr lang="en-US" sz="1216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用 Java 物件操作資料表</a:t>
                      </a:r>
                      <a:endParaRPr lang="en-US" sz="1216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998">
                <a:tc>
                  <a:txBody>
                    <a:bodyPr/>
                    <a:lstStyle/>
                    <a:p>
                      <a:pPr marL="0" indent="0">
                        <a:lnSpc>
                          <a:spcPts val="1703"/>
                        </a:lnSpc>
                        <a:buNone/>
                      </a:pPr>
                      <a:r>
                        <a:rPr lang="en-US" sz="1216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安全</a:t>
                      </a:r>
                      <a:endParaRPr lang="en-US" sz="1216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03"/>
                        </a:lnSpc>
                        <a:buNone/>
                      </a:pPr>
                      <a:r>
                        <a:rPr lang="en-US" sz="1216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Spring </a:t>
                      </a:r>
                      <a:r>
                        <a:rPr lang="en-US" sz="1216" dirty="0" err="1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Security、jwt、BCrypt</a:t>
                      </a:r>
                      <a:endParaRPr lang="en-US" sz="1216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03"/>
                        </a:lnSpc>
                        <a:buNone/>
                      </a:pPr>
                      <a:r>
                        <a:rPr lang="en-US" sz="1216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登入驗證、權限控管、密碼雜湊</a:t>
                      </a:r>
                      <a:endParaRPr lang="en-US" sz="1216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998">
                <a:tc>
                  <a:txBody>
                    <a:bodyPr/>
                    <a:lstStyle/>
                    <a:p>
                      <a:pPr marL="0" indent="0">
                        <a:lnSpc>
                          <a:spcPts val="1703"/>
                        </a:lnSpc>
                        <a:buNone/>
                      </a:pPr>
                      <a:r>
                        <a:rPr lang="en-US" sz="1216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資料庫</a:t>
                      </a:r>
                      <a:endParaRPr lang="en-US" sz="1216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03"/>
                        </a:lnSpc>
                        <a:buNone/>
                      </a:pPr>
                      <a:r>
                        <a:rPr lang="en-US" sz="1216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SQL Server 2022、Flyway</a:t>
                      </a:r>
                      <a:endParaRPr lang="en-US" sz="1216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03"/>
                        </a:lnSpc>
                        <a:buNone/>
                      </a:pPr>
                      <a:r>
                        <a:rPr lang="en-US" sz="1216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儲存資料、版本化管理資料表變更</a:t>
                      </a:r>
                      <a:endParaRPr lang="en-US" sz="1216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998">
                <a:tc>
                  <a:txBody>
                    <a:bodyPr/>
                    <a:lstStyle/>
                    <a:p>
                      <a:pPr marL="0" indent="0">
                        <a:lnSpc>
                          <a:spcPts val="1703"/>
                        </a:lnSpc>
                        <a:buNone/>
                      </a:pPr>
                      <a:r>
                        <a:rPr lang="en-US" sz="1216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前端</a:t>
                      </a:r>
                      <a:endParaRPr lang="en-US" sz="1216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03"/>
                        </a:lnSpc>
                        <a:buNone/>
                      </a:pPr>
                      <a:r>
                        <a:rPr lang="en-US" sz="1216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React 19、React Router、Vite</a:t>
                      </a:r>
                      <a:endParaRPr lang="en-US" sz="1216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03"/>
                        </a:lnSpc>
                        <a:buNone/>
                      </a:pPr>
                      <a:r>
                        <a:rPr lang="en-US" sz="1216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單頁式應用程式，5 個頁面</a:t>
                      </a:r>
                      <a:endParaRPr lang="en-US" sz="1216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998">
                <a:tc>
                  <a:txBody>
                    <a:bodyPr/>
                    <a:lstStyle/>
                    <a:p>
                      <a:pPr marL="0" indent="0">
                        <a:lnSpc>
                          <a:spcPts val="1703"/>
                        </a:lnSpc>
                        <a:buNone/>
                      </a:pPr>
                      <a:r>
                        <a:rPr lang="en-US" sz="1216" dirty="0" err="1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環境</a:t>
                      </a:r>
                      <a:endParaRPr lang="en-US" sz="1216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03"/>
                        </a:lnSpc>
                        <a:buNone/>
                      </a:pPr>
                      <a:r>
                        <a:rPr lang="en-US" sz="1216" dirty="0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Docker Compose</a:t>
                      </a:r>
                      <a:endParaRPr lang="en-US" sz="1216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03"/>
                        </a:lnSpc>
                        <a:buNone/>
                      </a:pPr>
                      <a:r>
                        <a:rPr lang="en-US" sz="1216" dirty="0" err="1">
                          <a:solidFill>
                            <a:srgbClr val="1E2A44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一鍵建立資料庫</a:t>
                      </a:r>
                      <a:endParaRPr lang="en-US" sz="1216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12800" y="62382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建置工具：Maven（Maven Wrapper）· 開發工具：IntelliJ IDEA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2F5BE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技術說明 · 系統架構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9788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三個容器：瀏覽器、API 伺服器、資料庫</a:t>
            </a:r>
            <a:endParaRPr lang="en-US" sz="3200" dirty="0"/>
          </a:p>
        </p:txBody>
      </p:sp>
      <p:pic>
        <p:nvPicPr>
          <p:cNvPr id="4" name="Image 0" descr="User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43000" y="2318841"/>
            <a:ext cx="609600" cy="60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3004641"/>
            <a:ext cx="97536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客服人員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280920" y="2537321"/>
            <a:ext cx="3657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操作</a:t>
            </a:r>
            <a:endParaRPr lang="en-US" sz="1200" dirty="0"/>
          </a:p>
        </p:txBody>
      </p:sp>
      <p:pic>
        <p:nvPicPr>
          <p:cNvPr id="7" name="Image 1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209800" y="2801441"/>
            <a:ext cx="508000" cy="228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851150" y="2025551"/>
            <a:ext cx="2269034" cy="1516261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12700">
            <a:solidFill>
              <a:srgbClr val="2F5B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5"/>
          <p:cNvSpPr/>
          <p:nvPr/>
        </p:nvSpPr>
        <p:spPr>
          <a:xfrm>
            <a:off x="3060700" y="2235101"/>
            <a:ext cx="19054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F5BE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前端 · 瀏覽器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060700" y="2524621"/>
            <a:ext cx="190543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React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3060700" y="2875062"/>
            <a:ext cx="190543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 個頁面；所有請求集中在 api.js，自動附上 token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120481" y="2537321"/>
            <a:ext cx="96450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JSON / HTTP</a:t>
            </a:r>
            <a:endParaRPr lang="en-US" sz="1200" dirty="0"/>
          </a:p>
        </p:txBody>
      </p:sp>
      <p:pic>
        <p:nvPicPr>
          <p:cNvPr id="13" name="Image 2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48784" y="2801441"/>
            <a:ext cx="508000" cy="2286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079034" y="2031901"/>
            <a:ext cx="2256433" cy="1503561"/>
          </a:xfrm>
          <a:prstGeom prst="roundRect">
            <a:avLst>
              <a:gd name="adj" fmla="val 6757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0"/>
          <p:cNvSpPr/>
          <p:nvPr/>
        </p:nvSpPr>
        <p:spPr>
          <a:xfrm>
            <a:off x="6282234" y="2235101"/>
            <a:ext cx="19055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FB0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後端 · Spring Boot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282234" y="2524621"/>
            <a:ext cx="190553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7F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REST API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6282234" y="2875062"/>
            <a:ext cx="1905534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9D3E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18 支 API；JWT 驗證後才進入業務邏輯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559314" y="2537321"/>
            <a:ext cx="3142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JPA</a:t>
            </a:r>
            <a:endParaRPr lang="en-US" sz="1200" dirty="0"/>
          </a:p>
        </p:txBody>
      </p:sp>
      <p:pic>
        <p:nvPicPr>
          <p:cNvPr id="19" name="Image 3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62466" y="2801441"/>
            <a:ext cx="508000" cy="2286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103816" y="2025551"/>
            <a:ext cx="2269034" cy="1516261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127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5"/>
          <p:cNvSpPr/>
          <p:nvPr/>
        </p:nvSpPr>
        <p:spPr>
          <a:xfrm>
            <a:off x="9313366" y="2235101"/>
            <a:ext cx="19054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410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資料庫 · Docker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9313366" y="2524621"/>
            <a:ext cx="190543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SQL Server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9313366" y="2875062"/>
            <a:ext cx="190543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 張資料表；Flyway 管理結構版本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831850" y="3802162"/>
            <a:ext cx="0" cy="772120"/>
          </a:xfrm>
          <a:prstGeom prst="line">
            <a:avLst/>
          </a:prstGeom>
          <a:noFill/>
          <a:ln w="38100">
            <a:solidFill>
              <a:srgbClr val="2F5B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19"/>
          <p:cNvSpPr/>
          <p:nvPr/>
        </p:nvSpPr>
        <p:spPr>
          <a:xfrm>
            <a:off x="977900" y="3827562"/>
            <a:ext cx="33530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前端打包進後端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977900" y="4091682"/>
            <a:ext cx="335302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Vite 建置後同步到 Spring Boot 的 static 資料夾，同一個網址就能開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4404717" y="3802162"/>
            <a:ext cx="0" cy="772120"/>
          </a:xfrm>
          <a:prstGeom prst="line">
            <a:avLst/>
          </a:prstGeom>
          <a:noFill/>
          <a:ln w="38100">
            <a:solidFill>
              <a:srgbClr val="2F5B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2"/>
          <p:cNvSpPr/>
          <p:nvPr/>
        </p:nvSpPr>
        <p:spPr>
          <a:xfrm>
            <a:off x="4550767" y="3827562"/>
            <a:ext cx="33531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無狀態伺服器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4550767" y="4091682"/>
            <a:ext cx="335313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不使用 Session，身分全靠每次請求帶的 JWT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7977684" y="3802162"/>
            <a:ext cx="0" cy="77212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5"/>
          <p:cNvSpPr/>
          <p:nvPr/>
        </p:nvSpPr>
        <p:spPr>
          <a:xfrm>
            <a:off x="8123734" y="3827562"/>
            <a:ext cx="33531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一鍵建環境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8123734" y="4091682"/>
            <a:ext cx="335313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docker compose up 啟動資料庫並自動建立 customer_service 資料庫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812800" y="62382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依 C4 Model 第 2 層（Container）繪製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2F5BE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技術說明 · 後端分層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4708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後端分三層，每層只做自己的事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923951"/>
            <a:ext cx="6311900" cy="566341"/>
          </a:xfrm>
          <a:custGeom>
            <a:avLst/>
            <a:gdLst/>
            <a:ahLst/>
            <a:cxnLst/>
            <a:rect l="l" t="t" r="r" b="b"/>
            <a:pathLst>
              <a:path w="6311900" h="566341">
                <a:moveTo>
                  <a:pt x="95250" y="0"/>
                </a:moveTo>
                <a:lnTo>
                  <a:pt x="6216650" y="0"/>
                </a:lnTo>
                <a:arcTo wR="95250" hR="95250" stAng="16200000" swAng="5400000"/>
                <a:lnTo>
                  <a:pt x="6311900" y="566341"/>
                </a:lnTo>
                <a:lnTo>
                  <a:pt x="0" y="566341"/>
                </a:lnTo>
                <a:lnTo>
                  <a:pt x="0" y="95250"/>
                </a:lnTo>
                <a:arcTo wR="95250" hR="95250" stAng="10800000" swAng="5400000"/>
                <a:close/>
              </a:path>
            </a:pathLst>
          </a:cu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1028700" y="2082701"/>
            <a:ext cx="1701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F5B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Controller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832100" y="2083296"/>
            <a:ext cx="421208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1E2A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接收 HTTP 請求、回傳 JSON；5 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2800" y="2496641"/>
            <a:ext cx="6324600" cy="5663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7131050" y="2496641"/>
            <a:ext cx="0" cy="566341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812800" y="3056632"/>
            <a:ext cx="6324600" cy="0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819150" y="2496641"/>
            <a:ext cx="0" cy="566341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1028700" y="2649041"/>
            <a:ext cx="1701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F5B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Service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32100" y="2649637"/>
            <a:ext cx="421208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1E2A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業務規則與交易處理；5 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800" y="3062982"/>
            <a:ext cx="6324600" cy="5663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7131050" y="3062982"/>
            <a:ext cx="0" cy="566341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812800" y="3622973"/>
            <a:ext cx="6324600" cy="0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819150" y="3062982"/>
            <a:ext cx="0" cy="566341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1028700" y="3215382"/>
            <a:ext cx="1701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F5B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Repository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32100" y="3215977"/>
            <a:ext cx="421208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1E2A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存取資料庫，複雜查詢用 JPQL；4 個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2800" y="3629323"/>
            <a:ext cx="6324600" cy="553641"/>
          </a:xfrm>
          <a:custGeom>
            <a:avLst/>
            <a:gdLst/>
            <a:ahLst/>
            <a:cxnLst/>
            <a:rect l="l" t="t" r="r" b="b"/>
            <a:pathLst>
              <a:path w="6324600" h="553641">
                <a:moveTo>
                  <a:pt x="0" y="0"/>
                </a:moveTo>
                <a:lnTo>
                  <a:pt x="6324600" y="0"/>
                </a:lnTo>
                <a:lnTo>
                  <a:pt x="6324600" y="452041"/>
                </a:lnTo>
                <a:arcTo wR="101600" hR="101600" stAng="0" swAng="5400000"/>
                <a:lnTo>
                  <a:pt x="101600" y="553641"/>
                </a:lnTo>
                <a:arcTo wR="101600" hR="101600" stAng="5400000" swAng="5400000"/>
                <a:lnTo>
                  <a:pt x="0" y="0"/>
                </a:lnTo>
                <a:close/>
              </a:path>
            </a:pathLst>
          </a:custGeom>
          <a:solidFill>
            <a:srgbClr val="14213D"/>
          </a:solidFill>
          <a:ln/>
        </p:spPr>
        <p:txBody>
          <a:bodyPr/>
          <a:lstStyle/>
          <a:p>
            <a:endParaRPr lang="zh-TW" altLang="en-US" dirty="0"/>
          </a:p>
        </p:txBody>
      </p:sp>
      <p:sp>
        <p:nvSpPr>
          <p:cNvPr id="20" name="Text 18"/>
          <p:cNvSpPr/>
          <p:nvPr/>
        </p:nvSpPr>
        <p:spPr>
          <a:xfrm>
            <a:off x="1016000" y="3781723"/>
            <a:ext cx="1701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8F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Entity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819400" y="3782318"/>
            <a:ext cx="423824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F6F7F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對應資料表的 Java 類別；4 個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448550" y="1923951"/>
            <a:ext cx="3924300" cy="2527300"/>
          </a:xfrm>
          <a:prstGeom prst="roundRect">
            <a:avLst>
              <a:gd name="adj" fmla="val 376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7658100" y="2133501"/>
            <a:ext cx="361035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橫跨各層的共用元件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658100" y="2463701"/>
            <a:ext cx="36103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dto</a:t>
            </a: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：請求與回應物件，與 Entity 分開，不把資料表直接丟給前端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58100" y="3022501"/>
            <a:ext cx="361035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enums</a:t>
            </a: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：工單狀態、派單來源、客服狀態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658100" y="3352701"/>
            <a:ext cx="361035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security</a:t>
            </a: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：JWT 產生與驗證、取得目前登入者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58100" y="3682901"/>
            <a:ext cx="361035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exception</a:t>
            </a: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：統一錯誤格式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2800" y="62382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套件：com.poz.cs_demo · 依 C4 Model 第 3 層（Component）繪製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2F5BE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技術說明 · JWT 登入驗證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168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登入發一次 token，之後每個請求都驗證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66801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F5BE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流程一：登入取得 token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9150" y="2290862"/>
            <a:ext cx="2362200" cy="487660"/>
          </a:xfrm>
          <a:prstGeom prst="roundRect">
            <a:avLst>
              <a:gd name="adj" fmla="val 16928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  <p:txBody>
          <a:bodyPr wrap="square" lIns="134572" tIns="109172" rIns="73231" bIns="83772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1E2A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r>
              <a:rPr lang="en-US" sz="1200" dirty="0">
                <a:solidFill>
                  <a:srgbClr val="1E2A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前端送出客服代號與密碼</a:t>
            </a:r>
            <a:endParaRPr lang="en-US" sz="1200" dirty="0"/>
          </a:p>
        </p:txBody>
      </p:sp>
      <p:pic>
        <p:nvPicPr>
          <p:cNvPr id="6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63900" y="2471241"/>
            <a:ext cx="203200" cy="127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549650" y="2180431"/>
            <a:ext cx="2362200" cy="708620"/>
          </a:xfrm>
          <a:prstGeom prst="roundRect">
            <a:avLst>
              <a:gd name="adj" fmla="val 1164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  <p:txBody>
          <a:bodyPr wrap="square" lIns="134572" tIns="109172" rIns="73231" bIns="83772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1E2A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r>
              <a:rPr lang="en-US" sz="1200" dirty="0">
                <a:solidFill>
                  <a:srgbClr val="1E2A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AuthService 用 BCrypt 比對密碼</a:t>
            </a:r>
            <a:endParaRPr lang="en-US" sz="1200" dirty="0"/>
          </a:p>
        </p:txBody>
      </p:sp>
      <p:pic>
        <p:nvPicPr>
          <p:cNvPr id="8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94400" y="2471241"/>
            <a:ext cx="203200" cy="127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80150" y="2180431"/>
            <a:ext cx="2362200" cy="708620"/>
          </a:xfrm>
          <a:prstGeom prst="roundRect">
            <a:avLst>
              <a:gd name="adj" fmla="val 1164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  <p:txBody>
          <a:bodyPr wrap="square" lIns="134572" tIns="109172" rIns="73231" bIns="83772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1E2A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r>
              <a:rPr lang="en-US" sz="1200" dirty="0">
                <a:solidFill>
                  <a:srgbClr val="1E2A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JwtService 簽發 token，有效 8 小時</a:t>
            </a:r>
            <a:endParaRPr lang="en-US" sz="1200" dirty="0"/>
          </a:p>
        </p:txBody>
      </p:sp>
      <p:pic>
        <p:nvPicPr>
          <p:cNvPr id="10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24900" y="2471241"/>
            <a:ext cx="203200" cy="127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010650" y="2180431"/>
            <a:ext cx="2362200" cy="708620"/>
          </a:xfrm>
          <a:prstGeom prst="roundRect">
            <a:avLst>
              <a:gd name="adj" fmla="val 1164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  <p:txBody>
          <a:bodyPr wrap="square" lIns="134572" tIns="109172" rIns="73231" bIns="83772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1E2A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r>
              <a:rPr lang="en-US" sz="1200" dirty="0">
                <a:solidFill>
                  <a:srgbClr val="1E2A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前端保存 token；客服狀態改為線上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812800" y="3073202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10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流程二：之後的每一個請求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819150" y="3386832"/>
            <a:ext cx="2362200" cy="708620"/>
          </a:xfrm>
          <a:prstGeom prst="roundRect">
            <a:avLst>
              <a:gd name="adj" fmla="val 1164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  <p:txBody>
          <a:bodyPr wrap="square" lIns="134572" tIns="109172" rIns="73231" bIns="83772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1E2A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r>
              <a:rPr lang="en-US" sz="1200" dirty="0">
                <a:solidFill>
                  <a:srgbClr val="1E2A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標頭帶 Authorization: Bearer token</a:t>
            </a:r>
            <a:endParaRPr lang="en-US" sz="1200" dirty="0"/>
          </a:p>
        </p:txBody>
      </p:sp>
      <p:pic>
        <p:nvPicPr>
          <p:cNvPr id="14" name="Image 3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63900" y="3677642"/>
            <a:ext cx="203200" cy="1270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549650" y="3386832"/>
            <a:ext cx="2362200" cy="708620"/>
          </a:xfrm>
          <a:prstGeom prst="roundRect">
            <a:avLst>
              <a:gd name="adj" fmla="val 1164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  <p:txBody>
          <a:bodyPr wrap="square" lIns="134572" tIns="109172" rIns="73231" bIns="83772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1E2A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r>
              <a:rPr lang="en-US" sz="1200" dirty="0">
                <a:solidFill>
                  <a:srgbClr val="1E2A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JwtAuthFilter 驗簽名與期限，記下身分</a:t>
            </a:r>
            <a:endParaRPr lang="en-US" sz="1200" dirty="0"/>
          </a:p>
        </p:txBody>
      </p:sp>
      <p:pic>
        <p:nvPicPr>
          <p:cNvPr id="16" name="Image 4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94400" y="3677642"/>
            <a:ext cx="203200" cy="1270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280150" y="3386832"/>
            <a:ext cx="2362200" cy="708620"/>
          </a:xfrm>
          <a:prstGeom prst="roundRect">
            <a:avLst>
              <a:gd name="adj" fmla="val 1164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  <p:txBody>
          <a:bodyPr wrap="square" lIns="134572" tIns="109172" rIns="73231" bIns="83772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1E2A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r>
              <a:rPr lang="en-US" sz="1200" dirty="0">
                <a:solidFill>
                  <a:srgbClr val="1E2A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SecurityConfig：沒有身分就回 401</a:t>
            </a:r>
            <a:endParaRPr lang="en-US" sz="1200" dirty="0"/>
          </a:p>
        </p:txBody>
      </p:sp>
      <p:pic>
        <p:nvPicPr>
          <p:cNvPr id="18" name="Image 5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24900" y="3677642"/>
            <a:ext cx="203200" cy="1270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010650" y="3386832"/>
            <a:ext cx="2362200" cy="708620"/>
          </a:xfrm>
          <a:prstGeom prst="roundRect">
            <a:avLst>
              <a:gd name="adj" fmla="val 1164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  <p:txBody>
          <a:bodyPr wrap="square" lIns="134572" tIns="109172" rIns="73231" bIns="83772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1E2A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r>
              <a:rPr lang="en-US" sz="1200" dirty="0">
                <a:solidFill>
                  <a:srgbClr val="1E2A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Service 用 CurrentAgent 取得操作者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8136434" y="4432002"/>
            <a:ext cx="31569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6F7F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無狀態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8136434" y="4683423"/>
            <a:ext cx="315691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9D3E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不建立 Session，伺服器不必記住誰登入過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812800" y="62382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相關檔案：security 套件 6 個類別，另有流程說明文件 docs/JWT-Security-流程說明.md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2F5BE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技術說明 · 例外處理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4708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所有錯誤都回同一種格式，前端只要處理一次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923951"/>
            <a:ext cx="3407767" cy="1671241"/>
          </a:xfrm>
          <a:prstGeom prst="roundRect">
            <a:avLst>
              <a:gd name="adj" fmla="val 569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1003300" y="2108101"/>
            <a:ext cx="31306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F5BE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第 1 層 · 業務錯誤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3300" y="2384921"/>
            <a:ext cx="31306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ApiException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3300" y="2661741"/>
            <a:ext cx="3130651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Service 主動丟出，附上給使用者看的中文訊息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3300" y="3182441"/>
            <a:ext cx="313065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400 · 401 · 403 · 404 · 409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92017" y="1923951"/>
            <a:ext cx="3407866" cy="1671241"/>
          </a:xfrm>
          <a:prstGeom prst="roundRect">
            <a:avLst>
              <a:gd name="adj" fmla="val 569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576167" y="2108101"/>
            <a:ext cx="31307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F5BE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第 2 層 · 欄位驗證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6167" y="2384921"/>
            <a:ext cx="31307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@Valid 驗證失敗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6167" y="2661741"/>
            <a:ext cx="313075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把每個欄位的錯誤接成一句話，固定回 400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6167" y="2953841"/>
            <a:ext cx="313075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處理器已備好，DTO 註解待補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64984" y="1923951"/>
            <a:ext cx="3407866" cy="1671241"/>
          </a:xfrm>
          <a:prstGeom prst="roundRect">
            <a:avLst>
              <a:gd name="adj" fmla="val 569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5" name="Text 13"/>
          <p:cNvSpPr/>
          <p:nvPr/>
        </p:nvSpPr>
        <p:spPr>
          <a:xfrm>
            <a:off x="8149134" y="2108101"/>
            <a:ext cx="31307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b="1" dirty="0">
                <a:solidFill>
                  <a:srgbClr val="C2410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第 3 層 · </a:t>
            </a:r>
            <a:r>
              <a:rPr lang="en-US" altLang="zh-TW" sz="1200" b="1" dirty="0" err="1">
                <a:solidFill>
                  <a:srgbClr val="C2410C"/>
                </a:solidFill>
                <a:latin typeface="Noto Sans TC" pitchFamily="34" charset="0"/>
                <a:ea typeface="Noto Sans TC" pitchFamily="34" charset="-122"/>
              </a:rPr>
              <a:t>未預期的錯誤</a:t>
            </a:r>
            <a:endParaRPr lang="en-US" sz="1200" b="1" dirty="0">
              <a:solidFill>
                <a:srgbClr val="C2410C"/>
              </a:solidFill>
              <a:latin typeface="Noto Sans TC" pitchFamily="34" charset="0"/>
              <a:ea typeface="Noto Sans TC" pitchFamily="34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149134" y="2384921"/>
            <a:ext cx="31307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Exception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49134" y="2661741"/>
            <a:ext cx="313075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未預期的錯誤：完整堆疊寫進伺服器 log，前端只收到籠統訊息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4C7D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057400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600"/>
              </a:lnSpc>
              <a:buNone/>
            </a:pPr>
            <a:r>
              <a:rPr lang="en-US" sz="6000" b="1" i="0" dirty="0" err="1">
                <a:solidFill>
                  <a:srgbClr val="F6F7F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謝謝</a:t>
            </a:r>
            <a:r>
              <a:rPr lang="zh-TW" altLang="en-US" sz="6000" b="1" i="0" dirty="0">
                <a:solidFill>
                  <a:srgbClr val="F6F7F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觀看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12800" y="4516041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600" dirty="0">
                <a:solidFill>
                  <a:srgbClr val="C9D3E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GitHub： </a:t>
            </a:r>
            <a:r>
              <a:rPr lang="en-US" sz="1600" dirty="0">
                <a:solidFill>
                  <a:srgbClr val="C9D3E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  <a:hlinkClick r:id="rId3"/>
              </a:rPr>
              <a:t>https://github.com/bxumsle000-cmd/CS_Demo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_Demo 客服工單系統簡報">
  <a:themeElements>
    <a:clrScheme name="CS_Demo 客服工單系統簡報">
      <a:dk1>
        <a:srgbClr val="14213D"/>
      </a:dk1>
      <a:lt1>
        <a:srgbClr val="F6F7F4"/>
      </a:lt1>
      <a:dk2>
        <a:srgbClr val="4D576B"/>
      </a:dk2>
      <a:lt2>
        <a:srgbClr val="DFE2E2"/>
      </a:lt2>
      <a:accent1>
        <a:srgbClr val="2F5BEA"/>
      </a:accent1>
      <a:accent2>
        <a:srgbClr val="8FB0FF"/>
      </a:accent2>
      <a:accent3>
        <a:srgbClr val="24365C"/>
      </a:accent3>
      <a:accent4>
        <a:srgbClr val="C2410C"/>
      </a:accent4>
      <a:accent5>
        <a:srgbClr val="4C7DFF"/>
      </a:accent5>
      <a:accent6>
        <a:srgbClr val="8E9BB5"/>
      </a:accent6>
      <a:hlink>
        <a:srgbClr val="0563C1"/>
      </a:hlink>
      <a:folHlink>
        <a:srgbClr val="954F72"/>
      </a:folHlink>
    </a:clrScheme>
    <a:fontScheme name="CS_Demo 客服工單系統簡報">
      <a:majorFont>
        <a:latin typeface="Noto Sans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920</Words>
  <Application>Microsoft Office PowerPoint</Application>
  <PresentationFormat>寬螢幕</PresentationFormat>
  <Paragraphs>280</Paragraphs>
  <Slides>18</Slides>
  <Notes>18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2" baseType="lpstr">
      <vt:lpstr>JetBrains Mono</vt:lpstr>
      <vt:lpstr>Noto Sans TC</vt:lpstr>
      <vt:lpstr>Arial</vt:lpstr>
      <vt:lpstr>CS_Demo 客服工單系統簡報</vt:lpstr>
      <vt:lpstr>客服工單管理系統</vt:lpstr>
      <vt:lpstr>簡報分成兩個部分</vt:lpstr>
      <vt:lpstr>功能說明</vt:lpstr>
      <vt:lpstr>每個功能都對應一個客服現場的問題</vt:lpstr>
      <vt:lpstr>用客服代號登入，登出時自動變成離線</vt:lpstr>
      <vt:lpstr>PowerPoint 簡報</vt:lpstr>
      <vt:lpstr>PowerPoint 簡報</vt:lpstr>
      <vt:lpstr>工單詳情：改狀態、轉派、留處理記錄</vt:lpstr>
      <vt:lpstr>回電行事曆：答應客戶的回電不再忘記</vt:lpstr>
      <vt:lpstr>7 種工作狀態，其中 2 種只能由系統設定</vt:lpstr>
      <vt:lpstr>客服的一天：6 個步驟串起所有功能</vt:lpstr>
      <vt:lpstr>技術說明</vt:lpstr>
      <vt:lpstr>前後端分離，後端以 Spring Boot 為核心</vt:lpstr>
      <vt:lpstr>三個容器：瀏覽器、API 伺服器、資料庫</vt:lpstr>
      <vt:lpstr>後端分三層，每層只做自己的事</vt:lpstr>
      <vt:lpstr>登入發一次 token，之後每個請求都驗證</vt:lpstr>
      <vt:lpstr>所有錯誤都回同一種格式，前端只要處理一次</vt:lpstr>
      <vt:lpstr>謝謝觀看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CS_Demo 客服工單系統簡報</dc:title>
  <dc:subject/>
  <dc:creator/>
  <cp:lastModifiedBy>翔年 莊</cp:lastModifiedBy>
  <cp:revision>2</cp:revision>
  <dcterms:created xsi:type="dcterms:W3CDTF">2026-10-14T16:59:11Z</dcterms:created>
  <dcterms:modified xsi:type="dcterms:W3CDTF">2026-10-14T17:29:09Z</dcterms:modified>
</cp:coreProperties>
</file>